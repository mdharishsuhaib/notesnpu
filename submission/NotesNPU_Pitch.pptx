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NotesNPU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DDDE3"/>
                </a:solidFill>
                <a:latin typeface="Segoe UI"/>
              </a:rPr>
              <a:t>Private, offline AI lecture &amp; meeting copilot - accelerated by the Snapdragon NPU on HP 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41E2B"/>
                </a:solidFill>
                <a:latin typeface="Segoe UI"/>
              </a:rPr>
              <a:t>Qualcomm AI Hub Whisper on the Hexagon NPU  +  on-device LLM  |  100%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BBC4"/>
                </a:solidFill>
                <a:latin typeface="Segoe UI"/>
              </a:rPr>
              <a:t>Mohammed Haris Suhaib M  |  Snapdragon AI Lab Build &amp; Present Challenge 2026</a:t>
            </a:r>
          </a:p>
          <a:p>
            <a:pPr algn="l"/>
            <a:r>
              <a:rPr sz="1600" b="0">
                <a:solidFill>
                  <a:srgbClr val="BBBBC4"/>
                </a:solidFill>
                <a:latin typeface="Segoe UI"/>
              </a:rPr>
              <a:t>https://github.com/mdharishsuhaib/NotesNPU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Taking notes while learning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E41E2B"/>
                </a:solidFill>
                <a:latin typeface="Segoe UI"/>
              </a:rPr>
              <a:t>■  </a:t>
            </a:r>
            <a:r>
              <a:rPr sz="1900">
                <a:solidFill>
                  <a:srgbClr val="14171F"/>
                </a:solidFill>
                <a:latin typeface="Segoe UI"/>
              </a:rPr>
              <a:t>Indian students attend 25-30 hours of lectures a week, often in fast, code-mixed Hindi-English, and struggle to take notes and listen at the same time.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41E2B"/>
                </a:solidFill>
                <a:latin typeface="Segoe UI"/>
              </a:rPr>
              <a:t>■  </a:t>
            </a:r>
            <a:r>
              <a:rPr sz="1900">
                <a:solidFill>
                  <a:srgbClr val="14171F"/>
                </a:solidFill>
                <a:latin typeface="Segoe UI"/>
              </a:rPr>
              <a:t>Cloud transcription tools (Otter, Fireflies, cloud Copilots) upload sensitive classroom and meeting audio to third-party servers.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41E2B"/>
                </a:solidFill>
                <a:latin typeface="Segoe UI"/>
              </a:rPr>
              <a:t>■  </a:t>
            </a:r>
            <a:r>
              <a:rPr sz="1900">
                <a:solidFill>
                  <a:srgbClr val="14171F"/>
                </a:solidFill>
                <a:latin typeface="Segoe UI"/>
              </a:rPr>
              <a:t>They need reliable internet and paid subscriptions, which are hard to get in hostels, tier-2/3 colleges, trains and field work.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41E2B"/>
                </a:solidFill>
                <a:latin typeface="Segoe UI"/>
              </a:rPr>
              <a:t>■  </a:t>
            </a:r>
            <a:r>
              <a:rPr sz="1900">
                <a:solidFill>
                  <a:srgbClr val="14171F"/>
                </a:solidFill>
                <a:latin typeface="Segoe UI"/>
              </a:rPr>
              <a:t>Running AI on the CPU drains the battery and heats the laptop, so it can't run through a whole day of classes.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645920"/>
            <a:ext cx="3657600" cy="13258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41E2B"/>
                </a:solidFill>
                <a:latin typeface="Segoe UI"/>
              </a:rPr>
              <a:t>25-30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06B"/>
                </a:solidFill>
                <a:latin typeface="Segoe UI"/>
              </a:rPr>
              <a:t>lectures / week per student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200400"/>
            <a:ext cx="3657600" cy="13258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291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41E2B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977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06B"/>
                </a:solidFill>
                <a:latin typeface="Segoe UI"/>
              </a:rPr>
              <a:t>bytes of audio should leave the laptop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754880"/>
            <a:ext cx="3657600" cy="13258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8463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41E2B"/>
                </a:solidFill>
                <a:latin typeface="Segoe UI"/>
              </a:rPr>
              <a:t>1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532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06B"/>
                </a:solidFill>
                <a:latin typeface="Segoe UI"/>
              </a:rPr>
              <a:t>battery needed for back-to-back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NotesNPU: your private AI note-taker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41E2B"/>
                </a:solidFill>
                <a:latin typeface="Segoe UI"/>
              </a:rPr>
              <a:t>■  </a:t>
            </a:r>
            <a:r>
              <a:rPr sz="1800">
                <a:solidFill>
                  <a:srgbClr val="14171F"/>
                </a:solidFill>
                <a:latin typeface="Segoe UI"/>
              </a:rPr>
              <a:t>Record or upload a lecture and get a timestamped transcript, fully on-device, even in airplane mode.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41E2B"/>
                </a:solidFill>
                <a:latin typeface="Segoe UI"/>
              </a:rPr>
              <a:t>■  </a:t>
            </a:r>
            <a:r>
              <a:rPr sz="1800">
                <a:solidFill>
                  <a:srgbClr val="14171F"/>
                </a:solidFill>
                <a:latin typeface="Segoe UI"/>
              </a:rPr>
              <a:t>Qualcomm AI Hub Whisper runs on the Hexagon NPU via ONNX Runtime QNN EP, leaving the CPU free and saving battery.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41E2B"/>
                </a:solidFill>
                <a:latin typeface="Segoe UI"/>
              </a:rPr>
              <a:t>■  </a:t>
            </a:r>
            <a:r>
              <a:rPr sz="1800">
                <a:solidFill>
                  <a:srgbClr val="14171F"/>
                </a:solidFill>
                <a:latin typeface="Segoe UI"/>
              </a:rPr>
              <a:t>A local LLM (Phi-3.5-mini INT4) generates a summary, structured notes, flashcards, a quiz and answers questions.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41E2B"/>
                </a:solidFill>
                <a:latin typeface="Segoe UI"/>
              </a:rPr>
              <a:t>■  </a:t>
            </a:r>
            <a:r>
              <a:rPr sz="1800">
                <a:solidFill>
                  <a:srgbClr val="14171F"/>
                </a:solidFill>
                <a:latin typeface="Segoe UI"/>
              </a:rPr>
              <a:t>Auto-extracts action items and deadlines ('exam next Monday', 'read chapter 6').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41E2B"/>
                </a:solidFill>
                <a:latin typeface="Segoe UI"/>
              </a:rPr>
              <a:t>■  </a:t>
            </a:r>
            <a:r>
              <a:rPr sz="1800">
                <a:solidFill>
                  <a:srgbClr val="14171F"/>
                </a:solidFill>
                <a:latin typeface="Segoe UI"/>
              </a:rPr>
              <a:t>Supports 10+ Indian languages, with Hindi lecture to English notes translation in the same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60020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Transcribe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Upload or record; pause-aware 30 s chunking; timestamps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160020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82328" y="1673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Live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2328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Mic streaming, text every ~8 s, on-device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8892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62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Translate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Hindi / Tamil / Telugu / Bengali... to English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278892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862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Study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32004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Summary, key concepts, detailed notes, deadlines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977639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405079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Revise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3891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Flashcards and 5-question MCQ quiz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3977639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405079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Ask the lecture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43891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Grounded Q&amp;A chat on your transcript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16636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5239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5577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One-click Markdown 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5166360"/>
            <a:ext cx="256032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52395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5577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71F"/>
                </a:solidFill>
                <a:latin typeface="Segoe UI"/>
              </a:rPr>
              <a:t>Built-in NPU vs CPU performance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Live demo: lecture in, study notes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4</a:t>
            </a:r>
          </a:p>
        </p:txBody>
      </p:sp>
      <p:pic>
        <p:nvPicPr>
          <p:cNvPr id="7" name="Picture 6" descr="tran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361941" cy="4480560"/>
          </a:xfrm>
          <a:prstGeom prst="rect">
            <a:avLst/>
          </a:prstGeom>
        </p:spPr>
      </p:pic>
      <p:pic>
        <p:nvPicPr>
          <p:cNvPr id="8" name="Picture 7" descr="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901" y="1371600"/>
            <a:ext cx="4361941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41E2B"/>
                </a:solidFill>
                <a:latin typeface="Segoe UI"/>
              </a:rPr>
              <a:t>1. Load or record a lecture   &gt;   2. Transcribe on-device (NPU)   &gt;   3. Summary / notes / flashcards / quiz   &gt;   4. Ask &amp;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Architecture: everything runs on the 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737360" cy="1554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71F"/>
                </a:solidFill>
                <a:latin typeface="Segoe UI"/>
              </a:rPr>
              <a:t>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mic / file</a:t>
            </a:r>
          </a:p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16 kHz mono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4288" y="2487168"/>
            <a:ext cx="164592" cy="237744"/>
          </a:xfrm>
          <a:prstGeom prst="rightArrow">
            <a:avLst/>
          </a:prstGeom>
          <a:solidFill>
            <a:srgbClr val="5A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737360" cy="1554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71F"/>
                </a:solidFill>
                <a:latin typeface="Segoe UI"/>
              </a:rPr>
              <a:t>Chunker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pause-aware</a:t>
            </a:r>
          </a:p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&lt;=30 s + silence 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42816" y="2487168"/>
            <a:ext cx="164592" cy="237744"/>
          </a:xfrm>
          <a:prstGeom prst="rightArrow">
            <a:avLst/>
          </a:prstGeom>
          <a:solidFill>
            <a:srgbClr val="5A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828800"/>
            <a:ext cx="1737360" cy="1554480"/>
          </a:xfrm>
          <a:prstGeom prst="round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Whisper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AI Hub QNN ONNX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Hexagon NPU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81344" y="2487168"/>
            <a:ext cx="164592" cy="237744"/>
          </a:xfrm>
          <a:prstGeom prst="rightArrow">
            <a:avLst/>
          </a:prstGeom>
          <a:solidFill>
            <a:srgbClr val="5A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828800"/>
            <a:ext cx="1737360" cy="1554480"/>
          </a:xfrm>
          <a:prstGeom prst="round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Whisper decoder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KV-cache, 200 slots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Hexagon NPU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119872" y="2487168"/>
            <a:ext cx="164592" cy="237744"/>
          </a:xfrm>
          <a:prstGeom prst="rightArrow">
            <a:avLst/>
          </a:prstGeom>
          <a:solidFill>
            <a:srgbClr val="5A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2752" y="1828800"/>
            <a:ext cx="1737360" cy="1554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71F"/>
                </a:solidFill>
                <a:latin typeface="Segoe UI"/>
              </a:rPr>
              <a:t>Phi-3.5-mini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INT4, onnxruntime-genai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58400" y="2487168"/>
            <a:ext cx="164592" cy="237744"/>
          </a:xfrm>
          <a:prstGeom prst="rightArrow">
            <a:avLst/>
          </a:prstGeom>
          <a:solidFill>
            <a:srgbClr val="5A6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0" y="1828800"/>
            <a:ext cx="1737360" cy="15544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920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171F"/>
                </a:solidFill>
                <a:latin typeface="Segoe UI"/>
              </a:rPr>
              <a:t>Study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423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summary, notes,</a:t>
            </a:r>
          </a:p>
          <a:p>
            <a:pPr algn="ctr"/>
            <a:r>
              <a:rPr sz="1200" b="0">
                <a:solidFill>
                  <a:srgbClr val="5A606B"/>
                </a:solidFill>
                <a:latin typeface="Segoe UI"/>
              </a:rPr>
              <a:t>quiz, Q&amp;A,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404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ONNX Runtime QNN Execution Provider (plugin EP, HTP backend, burst perf mode) runs AI Hub precompiled context binaries, so there is no on-device compile.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Encoder emits cross-attention KV caches directly; the fixed-shape decoder loop feeds self-attention caches back, so every step stays on the NPU.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Robust by design: NPU to CPU to extractive fallback chain, repetition guard, silence gating, head+tail context fitting for long lectures.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AI MODELS &amp;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Why the Snapdragon NPU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2377440"/>
                <a:gridCol w="33832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Runtime / hardware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Speech-to-text (NPU)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Whisper-Base, precompiled QNN ONNX FP16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Qualcomm AI Hub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ONNX Runtime + QNN EP (HTP) on the Hexagon NPU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Speech-to-text (fallback)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Whisper-Base ONNX (INT8 decoder)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Hugging Face onnx-community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ONNX Runtime CPU 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Study assistant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Phi-3.5-mini-instruct INT4 AWQ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Microsoft (Hugging Face)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71F"/>
                          </a:solidFill>
                          <a:latin typeface="Segoe UI"/>
                        </a:rPr>
                        <a:t>onnxruntime-genai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4290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Whisper encoder = dense transformer over 1500 frames, a good fit for the Hexagon HTP's FP16 tensor engines (measured: 45.5 ms per 30 s of audio on X Elite).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AI Hub precompiled context binaries: no on-device compile, instant start-up.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Fixed-shape KV-cache decoder (200 slots) keeps every step on the NPU (3.8 ms/token).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NPU does the speech, so the Oryon CPU stays free for the LLM and UI and live mode never stutters.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E41E2B"/>
                </a:solidFill>
                <a:latin typeface="Segoe UI"/>
              </a:rPr>
              <a:t>■  </a:t>
            </a:r>
            <a:r>
              <a:rPr sz="1500">
                <a:solidFill>
                  <a:srgbClr val="14171F"/>
                </a:solidFill>
                <a:latin typeface="Segoe UI"/>
              </a:rPr>
              <a:t>Low-power NPU inference means a full day of lectures on battery, quiet and cool.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BENCHMARKS (WHISPER-BASE, 85 S LECTURE)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Performance: measured on a real Snapdragon NPU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94560"/>
                <a:gridCol w="201168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Device / backend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Speed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Encoder per 30 s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Decoder per token</a:t>
                      </a:r>
                    </a:p>
                  </a:txBody>
                  <a:tcPr>
                    <a:solidFill>
                      <a:srgbClr val="E41E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Intel i5-7200U laptop (dev machine), CPU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5.7x real time (14.9 s)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1312 ms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44.8 ms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Snapdragon X Elite NPU (measured on Qualcomm AI 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~80x real time (~1.1 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45.5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3.8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NPU speed-up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~14x end to end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28.8x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71F"/>
                          </a:solidFill>
                          <a:latin typeface="Segoe UI"/>
                        </a:rPr>
                        <a:t>11.8x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E41E2B"/>
                </a:solidFill>
                <a:latin typeface="Segoe UI"/>
              </a:rPr>
              <a:t>■  </a:t>
            </a:r>
            <a:r>
              <a:rPr sz="1400">
                <a:solidFill>
                  <a:srgbClr val="14171F"/>
                </a:solidFill>
                <a:latin typeface="Segoe UI"/>
              </a:rPr>
              <a:t>Measured on a real Snapdragon X Elite (Qualcomm AI Hub hosted device): encoder 45.5 ms per 30 s of audio, decoder 3.8 ms per token.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E41E2B"/>
                </a:solidFill>
                <a:latin typeface="Segoe UI"/>
              </a:rPr>
              <a:t>■  </a:t>
            </a:r>
            <a:r>
              <a:rPr sz="1400">
                <a:solidFill>
                  <a:srgbClr val="14171F"/>
                </a:solidFill>
                <a:latin typeface="Segoe UI"/>
              </a:rPr>
              <a:t>100% of ops on the NPU: 556 encoder ops + 975 decoder ops on the Hexagon HTP, none on the CPU; peak memory 34 MB / 60 MB.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E41E2B"/>
                </a:solidFill>
                <a:latin typeface="Segoe UI"/>
              </a:rPr>
              <a:t>■  </a:t>
            </a:r>
            <a:r>
              <a:rPr sz="1400">
                <a:solidFill>
                  <a:srgbClr val="14171F"/>
                </a:solidFill>
                <a:latin typeface="Segoe UI"/>
              </a:rPr>
              <a:t>Accuracy: NPU (FP16) encoder output matches the FP32 CPU reference with cosine similarity 0.999, and gives an identical, correct transcript of the sample lecture.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E41E2B"/>
                </a:solidFill>
                <a:latin typeface="Segoe UI"/>
              </a:rPr>
              <a:t>■  </a:t>
            </a:r>
            <a:r>
              <a:rPr sz="1400">
                <a:solidFill>
                  <a:srgbClr val="14171F"/>
                </a:solidFill>
                <a:latin typeface="Segoe UI"/>
              </a:rPr>
              <a:t>The 85 s sample lecture takes ~1.1 s on the NPU vs 14.9 s on a laptop CPU.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USE CASE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Who it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926080" cy="82296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813816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916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71F"/>
                </a:solidFill>
                <a:latin typeface="Segoe UI"/>
              </a:rPr>
              <a:t>Focus on understanding, not scribbling; revise with auto flashcards and quizzes.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2926080" cy="82296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Accessibility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813816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71F"/>
                </a:solidFill>
                <a:latin typeface="Segoe UI"/>
              </a:rPr>
              <a:t>Live captions for deaf and hard-of-hearing learners; notes for students with dyslexia or ADHD.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2926080" cy="82296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30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Regional language learners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429000"/>
            <a:ext cx="813816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3611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71F"/>
                </a:solidFill>
                <a:latin typeface="Segoe UI"/>
              </a:rPr>
              <a:t>Hindi / regional lectures turned into English notes, bridging the medium-of-instruction gap.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2926080" cy="82296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90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Professionals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4389120"/>
            <a:ext cx="813816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572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71F"/>
                </a:solidFill>
                <a:latin typeface="Segoe UI"/>
              </a:rPr>
              <a:t>Confidential meetings summarised with action items, and nothing is uploaded.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2926080" cy="82296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504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Teachers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349240"/>
            <a:ext cx="813816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55321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71F"/>
                </a:solidFill>
                <a:latin typeface="Segoe UI"/>
              </a:rPr>
              <a:t>Publish lecture notes and question banks from their own recordings.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READY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Deployment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E41E2B"/>
                </a:solidFill>
                <a:latin typeface="Segoe UI"/>
              </a:rPr>
              <a:t>■  </a:t>
            </a:r>
            <a:r>
              <a:rPr sz="1700">
                <a:solidFill>
                  <a:srgbClr val="14171F"/>
                </a:solidFill>
                <a:latin typeface="Segoe UI"/>
              </a:rPr>
              <a:t>One-click setup.bat / run.bat: detects Snapdragon, installs native ARM64 deps, downloads AI Hub models.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41E2B"/>
                </a:solidFill>
                <a:latin typeface="Segoe UI"/>
              </a:rPr>
              <a:t>■  </a:t>
            </a:r>
            <a:r>
              <a:rPr sz="1700">
                <a:solidFill>
                  <a:srgbClr val="14171F"/>
                </a:solidFill>
                <a:latin typeface="Segoe UI"/>
              </a:rPr>
              <a:t>Runs as a local web app on 127.0.0.1, with offline mode enforced (HF_HUB_OFFLINE, no analytics).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41E2B"/>
                </a:solidFill>
                <a:latin typeface="Segoe UI"/>
              </a:rPr>
              <a:t>■  </a:t>
            </a:r>
            <a:r>
              <a:rPr sz="1700">
                <a:solidFill>
                  <a:srgbClr val="14171F"/>
                </a:solidFill>
                <a:latin typeface="Segoe UI"/>
              </a:rPr>
              <a:t>Automatic fallback: NPU to CPU to extractive engine, so it works on every Windows PC.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41E2B"/>
                </a:solidFill>
                <a:latin typeface="Segoe UI"/>
              </a:rPr>
              <a:t>■  </a:t>
            </a:r>
            <a:r>
              <a:rPr sz="1700">
                <a:solidFill>
                  <a:srgbClr val="14171F"/>
                </a:solidFill>
                <a:latin typeface="Segoe UI"/>
              </a:rPr>
              <a:t>Light install (-NoLLM, ~300 MB) for low-storage laptops.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41E2B"/>
                </a:solidFill>
                <a:latin typeface="Segoe UI"/>
              </a:rPr>
              <a:t>■  </a:t>
            </a:r>
            <a:r>
              <a:rPr sz="1700">
                <a:solidFill>
                  <a:srgbClr val="14171F"/>
                </a:solidFill>
                <a:latin typeface="Segoe UI"/>
              </a:rPr>
              <a:t>Open source (MIT) on GitHub, with CLI tools for transcription and benchmarking.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554480"/>
            <a:ext cx="4114800" cy="393192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&gt; git clone &lt;repo&gt;</a:t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&gt; cd notesnpu</a:t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&gt; setup.bat</a:t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&gt; run.bat</a:t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Opens http://127.0.0.1:7860</a:t>
            </a:r>
          </a:p>
          <a:p>
            <a:pPr algn="l"/>
            <a:r>
              <a:rPr sz="1600" b="0">
                <a:solidFill>
                  <a:srgbClr val="E6E6EA"/>
                </a:solidFill>
                <a:latin typeface="Segoe UI"/>
              </a:rPr>
              <a:t>Works offline after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41E2B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71F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06B"/>
                </a:solidFill>
                <a:latin typeface="Segoe UI"/>
              </a:rPr>
              <a:t>NotesNPU  |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E41E2B"/>
                </a:solidFill>
                <a:latin typeface="Segoe UI"/>
              </a:rPr>
              <a:t>■  </a:t>
            </a:r>
            <a:r>
              <a:rPr sz="2000">
                <a:solidFill>
                  <a:srgbClr val="14171F"/>
                </a:solidFill>
                <a:latin typeface="Segoe UI"/>
              </a:rPr>
              <a:t>LLM on the NPU: AI Hub Llama-3.2-3B / Phi-3.5 QNN binaries via Genie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41E2B"/>
                </a:solidFill>
                <a:latin typeface="Segoe UI"/>
              </a:rPr>
              <a:t>■  </a:t>
            </a:r>
            <a:r>
              <a:rPr sz="2000">
                <a:solidFill>
                  <a:srgbClr val="14171F"/>
                </a:solidFill>
                <a:latin typeface="Segoe UI"/>
              </a:rPr>
              <a:t>Speaker diarisation for meetings (who said what)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41E2B"/>
                </a:solidFill>
                <a:latin typeface="Segoe UI"/>
              </a:rPr>
              <a:t>■  </a:t>
            </a:r>
            <a:r>
              <a:rPr sz="2000">
                <a:solidFill>
                  <a:srgbClr val="14171F"/>
                </a:solidFill>
                <a:latin typeface="Segoe UI"/>
              </a:rPr>
              <a:t>Slide / whiteboard capture with on-device OCR, linked to the timeline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41E2B"/>
                </a:solidFill>
                <a:latin typeface="Segoe UI"/>
              </a:rPr>
              <a:t>■  </a:t>
            </a:r>
            <a:r>
              <a:rPr sz="2000">
                <a:solidFill>
                  <a:srgbClr val="14171F"/>
                </a:solidFill>
                <a:latin typeface="Segoe UI"/>
              </a:rPr>
              <a:t>Semantic search across a semester of lectures (on-device embeddings)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E41E2B"/>
                </a:solidFill>
                <a:latin typeface="Segoe UI"/>
              </a:rPr>
              <a:t>■  </a:t>
            </a:r>
            <a:r>
              <a:rPr sz="2000">
                <a:solidFill>
                  <a:srgbClr val="14171F"/>
                </a:solidFill>
                <a:latin typeface="Segoe UI"/>
              </a:rPr>
              <a:t>MSIX installer on the Microsoft Store; HP AI Companion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E4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DDDE3"/>
                </a:solidFill>
                <a:latin typeface="Segoe UI"/>
              </a:rPr>
              <a:t>NotesNPU: learn more, write less, and keep it on your PC.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C4"/>
                </a:solidFill>
                <a:latin typeface="Segoe UI"/>
              </a:rPr>
              <a:t>https://github.com/mdharishsuhaib/NotesNPU</a:t>
            </a:r>
          </a:p>
          <a:p>
            <a:pPr algn="l"/>
            <a:r>
              <a:rPr sz="1800" b="0">
                <a:solidFill>
                  <a:srgbClr val="BBBBC4"/>
                </a:solidFill>
                <a:latin typeface="Segoe UI"/>
              </a:rPr>
              <a:t>Mohammed Haris Suhaib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NotesNPU - pitch deck</dc:title>
  <dc:subject>Private, offline AI lecture &amp; meeting copilot - accelerated by the Snapdragon NPU on HP PCs</dc:subject>
  <dc:creator>Mohammed Haris Suhaib M</dc:creator>
  <cp:keywords>Snapdragon, NPU, Qualcomm AI Hub, Whisper</cp:keywords>
  <dc:description/>
  <cp:lastModifiedBy>Mohammed Haris Suhaib M</cp:lastModifiedBy>
  <cp:revision>1</cp:revision>
  <dcterms:created xsi:type="dcterms:W3CDTF">2013-01-27T09:14:16Z</dcterms:created>
  <dcterms:modified xsi:type="dcterms:W3CDTF">2013-01-27T09:15:58Z</dcterms:modified>
  <cp:category/>
</cp:coreProperties>
</file>