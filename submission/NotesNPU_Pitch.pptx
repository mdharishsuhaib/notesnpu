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73152"/>
          </a:xfrm>
          <a:prstGeom prst="rect">
            <a:avLst/>
          </a:prstGeom>
          <a:solidFill>
            <a:srgbClr val="E4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>
                <a:solidFill>
                  <a:srgbClr val="FFFFFF"/>
                </a:solidFill>
                <a:latin typeface="Segoe UI"/>
              </a:rPr>
              <a:t>NotesNPU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DDDDE3"/>
                </a:solidFill>
                <a:latin typeface="Segoe UI"/>
              </a:rPr>
              <a:t>Private, offline AI lecture &amp; meeting copilot - accelerated by the Snapdragon NPU on HP PCs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41E2B"/>
                </a:solidFill>
                <a:latin typeface="Segoe UI"/>
              </a:rPr>
              <a:t>Qualcomm AI Hub Whisper on the Hexagon NPU  +  on-device LLM  |  100% offline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1206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BBBC4"/>
                </a:solidFill>
                <a:latin typeface="Segoe UI"/>
              </a:rPr>
              <a:t>Saira  |  Snapdragon AI Lab Build &amp; Present Challenge 2026</a:t>
            </a:r>
          </a:p>
          <a:p>
            <a:pPr algn="l"/>
            <a:r>
              <a:rPr sz="1600" b="0">
                <a:solidFill>
                  <a:srgbClr val="BBBBC4"/>
                </a:solidFill>
                <a:latin typeface="Segoe UI"/>
              </a:rPr>
              <a:t>https://github.com/&lt;your-username&gt;/notesnpu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4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41E2B"/>
                </a:solidFill>
                <a:latin typeface="Segoe U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4171F"/>
                </a:solidFill>
                <a:latin typeface="Segoe UI"/>
              </a:rPr>
              <a:t>Taking notes while learning is broken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00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606B"/>
                </a:solidFill>
                <a:latin typeface="Segoe UI"/>
              </a:rPr>
              <a:t>NotesNPU  |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6949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solidFill>
                  <a:srgbClr val="E41E2B"/>
                </a:solidFill>
                <a:latin typeface="Segoe UI"/>
              </a:rPr>
              <a:t>■  </a:t>
            </a:r>
            <a:r>
              <a:rPr sz="1900">
                <a:solidFill>
                  <a:srgbClr val="14171F"/>
                </a:solidFill>
                <a:latin typeface="Segoe UI"/>
              </a:rPr>
              <a:t>Indian students attend 25-30 hours of lectures a week, often in fast, code-mixed Hindi-English, and struggle to take notes and listen at the same time.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E41E2B"/>
                </a:solidFill>
                <a:latin typeface="Segoe UI"/>
              </a:rPr>
              <a:t>■  </a:t>
            </a:r>
            <a:r>
              <a:rPr sz="1900">
                <a:solidFill>
                  <a:srgbClr val="14171F"/>
                </a:solidFill>
                <a:latin typeface="Segoe UI"/>
              </a:rPr>
              <a:t>Cloud transcription tools (Otter, Fireflies, cloud Copilots) upload sensitive classroom and meeting audio to third-party servers.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E41E2B"/>
                </a:solidFill>
                <a:latin typeface="Segoe UI"/>
              </a:rPr>
              <a:t>■  </a:t>
            </a:r>
            <a:r>
              <a:rPr sz="1900">
                <a:solidFill>
                  <a:srgbClr val="14171F"/>
                </a:solidFill>
                <a:latin typeface="Segoe UI"/>
              </a:rPr>
              <a:t>They need reliable internet and paid subscriptions, which are hard to get in hostels, tier-2/3 colleges, trains and field work.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E41E2B"/>
                </a:solidFill>
                <a:latin typeface="Segoe UI"/>
              </a:rPr>
              <a:t>■  </a:t>
            </a:r>
            <a:r>
              <a:rPr sz="1900">
                <a:solidFill>
                  <a:srgbClr val="14171F"/>
                </a:solidFill>
                <a:latin typeface="Segoe UI"/>
              </a:rPr>
              <a:t>Running AI on the CPU drains the battery and heats the laptop, so it can't run through a whole day of classes.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79" y="1645920"/>
            <a:ext cx="3657600" cy="13258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73736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E41E2B"/>
                </a:solidFill>
                <a:latin typeface="Segoe UI"/>
              </a:rPr>
              <a:t>25-30 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24231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06B"/>
                </a:solidFill>
                <a:latin typeface="Segoe UI"/>
              </a:rPr>
              <a:t>lectures / week per student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3200400"/>
            <a:ext cx="3657600" cy="13258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329184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E41E2B"/>
                </a:solidFill>
                <a:latin typeface="Segoe U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397764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06B"/>
                </a:solidFill>
                <a:latin typeface="Segoe UI"/>
              </a:rPr>
              <a:t>bytes of audio should leave the laptop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79" y="4754880"/>
            <a:ext cx="3657600" cy="13258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484632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E41E2B"/>
                </a:solidFill>
                <a:latin typeface="Segoe UI"/>
              </a:rPr>
              <a:t>1 day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55321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06B"/>
                </a:solidFill>
                <a:latin typeface="Segoe UI"/>
              </a:rPr>
              <a:t>battery needed for back-to-back classes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4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41E2B"/>
                </a:solidFill>
                <a:latin typeface="Segoe UI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4171F"/>
                </a:solidFill>
                <a:latin typeface="Segoe UI"/>
              </a:rPr>
              <a:t>NotesNPU: your private AI note-taker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00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606B"/>
                </a:solidFill>
                <a:latin typeface="Segoe UI"/>
              </a:rPr>
              <a:t>NotesNPU  |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852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>
                <a:solidFill>
                  <a:srgbClr val="E41E2B"/>
                </a:solidFill>
                <a:latin typeface="Segoe UI"/>
              </a:rPr>
              <a:t>■  </a:t>
            </a:r>
            <a:r>
              <a:rPr sz="1800">
                <a:solidFill>
                  <a:srgbClr val="14171F"/>
                </a:solidFill>
                <a:latin typeface="Segoe UI"/>
              </a:rPr>
              <a:t>Record or upload a lecture and get a timestamped transcript, fully on-device, even in airplane mode.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41E2B"/>
                </a:solidFill>
                <a:latin typeface="Segoe UI"/>
              </a:rPr>
              <a:t>■  </a:t>
            </a:r>
            <a:r>
              <a:rPr sz="1800">
                <a:solidFill>
                  <a:srgbClr val="14171F"/>
                </a:solidFill>
                <a:latin typeface="Segoe UI"/>
              </a:rPr>
              <a:t>Qualcomm AI Hub Whisper runs on the Hexagon NPU via ONNX Runtime QNN EP, leaving the CPU free and saving battery.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41E2B"/>
                </a:solidFill>
                <a:latin typeface="Segoe UI"/>
              </a:rPr>
              <a:t>■  </a:t>
            </a:r>
            <a:r>
              <a:rPr sz="1800">
                <a:solidFill>
                  <a:srgbClr val="14171F"/>
                </a:solidFill>
                <a:latin typeface="Segoe UI"/>
              </a:rPr>
              <a:t>A local LLM (Phi-3.5-mini INT4) generates a summary, structured notes, flashcards, a quiz and answers questions.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41E2B"/>
                </a:solidFill>
                <a:latin typeface="Segoe UI"/>
              </a:rPr>
              <a:t>■  </a:t>
            </a:r>
            <a:r>
              <a:rPr sz="1800">
                <a:solidFill>
                  <a:srgbClr val="14171F"/>
                </a:solidFill>
                <a:latin typeface="Segoe UI"/>
              </a:rPr>
              <a:t>Auto-extracts action items and deadlines ('exam next Monday', 'read chapter 6').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41E2B"/>
                </a:solidFill>
                <a:latin typeface="Segoe UI"/>
              </a:rPr>
              <a:t>■  </a:t>
            </a:r>
            <a:r>
              <a:rPr sz="1800">
                <a:solidFill>
                  <a:srgbClr val="14171F"/>
                </a:solidFill>
                <a:latin typeface="Segoe UI"/>
              </a:rPr>
              <a:t>Supports 10+ Indian languages, with Hindi lecture to English notes translation in the same pass.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675120" y="1600200"/>
            <a:ext cx="2560320" cy="10515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84848" y="167335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41E2B"/>
                </a:solidFill>
                <a:latin typeface="Segoe UI"/>
              </a:rPr>
              <a:t>Transcribe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20116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4171F"/>
                </a:solidFill>
                <a:latin typeface="Segoe UI"/>
              </a:rPr>
              <a:t>Upload or record; pause-aware 30 s chunking; timestamps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72600" y="1600200"/>
            <a:ext cx="2560320" cy="10515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82328" y="167335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41E2B"/>
                </a:solidFill>
                <a:latin typeface="Segoe UI"/>
              </a:rPr>
              <a:t>Live mode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82328" y="20116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4171F"/>
                </a:solidFill>
                <a:latin typeface="Segoe UI"/>
              </a:rPr>
              <a:t>Mic streaming, text every ~8 s, on-device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75120" y="2788920"/>
            <a:ext cx="2560320" cy="10515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4848" y="286207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41E2B"/>
                </a:solidFill>
                <a:latin typeface="Segoe UI"/>
              </a:rPr>
              <a:t>Translate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4848" y="32004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4171F"/>
                </a:solidFill>
                <a:latin typeface="Segoe UI"/>
              </a:rPr>
              <a:t>Hindi / Tamil / Telugu / Bengali... to English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72600" y="2788920"/>
            <a:ext cx="2560320" cy="10515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82328" y="286207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41E2B"/>
                </a:solidFill>
                <a:latin typeface="Segoe UI"/>
              </a:rPr>
              <a:t>Study notes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82328" y="32004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4171F"/>
                </a:solidFill>
                <a:latin typeface="Segoe UI"/>
              </a:rPr>
              <a:t>Summary, key concepts, detailed notes, deadlines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75120" y="3977639"/>
            <a:ext cx="2560320" cy="10515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84848" y="4050791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41E2B"/>
                </a:solidFill>
                <a:latin typeface="Segoe UI"/>
              </a:rPr>
              <a:t>Revise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4389119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4171F"/>
                </a:solidFill>
                <a:latin typeface="Segoe UI"/>
              </a:rPr>
              <a:t>Flashcards and 5-question MCQ quiz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372600" y="3977639"/>
            <a:ext cx="2560320" cy="10515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82328" y="4050791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41E2B"/>
                </a:solidFill>
                <a:latin typeface="Segoe UI"/>
              </a:rPr>
              <a:t>Ask the lecture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82328" y="4389119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4171F"/>
                </a:solidFill>
                <a:latin typeface="Segoe UI"/>
              </a:rPr>
              <a:t>Grounded Q&amp;A chat on your transcript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0" y="5166360"/>
            <a:ext cx="2560320" cy="10515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84848" y="523951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41E2B"/>
                </a:solidFill>
                <a:latin typeface="Segoe UI"/>
              </a:rPr>
              <a:t>Export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84848" y="557784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4171F"/>
                </a:solidFill>
                <a:latin typeface="Segoe UI"/>
              </a:rPr>
              <a:t>One-click Markdown notes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372600" y="5166360"/>
            <a:ext cx="2560320" cy="10515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82328" y="523951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41E2B"/>
                </a:solidFill>
                <a:latin typeface="Segoe UI"/>
              </a:rPr>
              <a:t>Benchmark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82328" y="557784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4171F"/>
                </a:solidFill>
                <a:latin typeface="Segoe UI"/>
              </a:rPr>
              <a:t>Built-in NPU vs CPU performance panel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4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41E2B"/>
                </a:solidFill>
                <a:latin typeface="Segoe UI"/>
              </a:rPr>
              <a:t>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4171F"/>
                </a:solidFill>
                <a:latin typeface="Segoe UI"/>
              </a:rPr>
              <a:t>Live demo: lecture in, study notes 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00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606B"/>
                </a:solidFill>
                <a:latin typeface="Segoe UI"/>
              </a:rPr>
              <a:t>NotesNPU  |  4</a:t>
            </a:r>
          </a:p>
        </p:txBody>
      </p:sp>
      <p:pic>
        <p:nvPicPr>
          <p:cNvPr id="7" name="Picture 6" descr="transcri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4361941" cy="4480560"/>
          </a:xfrm>
          <a:prstGeom prst="rect">
            <a:avLst/>
          </a:prstGeom>
        </p:spPr>
      </p:pic>
      <p:pic>
        <p:nvPicPr>
          <p:cNvPr id="8" name="Picture 7" descr="no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4901" y="1371600"/>
            <a:ext cx="4361941" cy="44805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594360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41E2B"/>
                </a:solidFill>
                <a:latin typeface="Segoe UI"/>
              </a:rPr>
              <a:t>1. Load or record a lecture   &gt;   2. Transcribe on-device (NPU)   &gt;   3. Summary / notes / flashcards / quiz   &gt;   4. Ask &amp; export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4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41E2B"/>
                </a:solidFill>
                <a:latin typeface="Segoe UI"/>
              </a:rPr>
              <a:t>TECHNICAL 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4171F"/>
                </a:solidFill>
                <a:latin typeface="Segoe UI"/>
              </a:rPr>
              <a:t>Architecture: everything runs on the PC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00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606B"/>
                </a:solidFill>
                <a:latin typeface="Segoe UI"/>
              </a:rPr>
              <a:t>NotesNPU  | 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1737360" cy="1554480"/>
          </a:xfrm>
          <a:prstGeom prst="round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4171F"/>
                </a:solidFill>
                <a:latin typeface="Segoe UI"/>
              </a:rPr>
              <a:t>Audio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3160"/>
            <a:ext cx="1554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A606B"/>
                </a:solidFill>
                <a:latin typeface="Segoe UI"/>
              </a:rPr>
              <a:t>mic / file</a:t>
            </a:r>
          </a:p>
          <a:p>
            <a:pPr algn="ctr"/>
            <a:r>
              <a:rPr sz="1200" b="0">
                <a:solidFill>
                  <a:srgbClr val="5A606B"/>
                </a:solidFill>
                <a:latin typeface="Segoe UI"/>
              </a:rPr>
              <a:t>16 kHz mono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304288" y="2487168"/>
            <a:ext cx="164592" cy="237744"/>
          </a:xfrm>
          <a:prstGeom prst="rightArrow">
            <a:avLst/>
          </a:prstGeom>
          <a:solidFill>
            <a:srgbClr val="5A6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487168" y="1828800"/>
            <a:ext cx="1737360" cy="1554480"/>
          </a:xfrm>
          <a:prstGeom prst="round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78608" y="192024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4171F"/>
                </a:solidFill>
                <a:latin typeface="Segoe UI"/>
              </a:rPr>
              <a:t>Chunker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8608" y="2423160"/>
            <a:ext cx="1554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A606B"/>
                </a:solidFill>
                <a:latin typeface="Segoe UI"/>
              </a:rPr>
              <a:t>pause-aware</a:t>
            </a:r>
          </a:p>
          <a:p>
            <a:pPr algn="ctr"/>
            <a:r>
              <a:rPr sz="1200" b="0">
                <a:solidFill>
                  <a:srgbClr val="5A606B"/>
                </a:solidFill>
                <a:latin typeface="Segoe UI"/>
              </a:rPr>
              <a:t>&lt;=30 s + silence gate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242816" y="2487168"/>
            <a:ext cx="164592" cy="237744"/>
          </a:xfrm>
          <a:prstGeom prst="rightArrow">
            <a:avLst/>
          </a:prstGeom>
          <a:solidFill>
            <a:srgbClr val="5A6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25696" y="1828800"/>
            <a:ext cx="1737360" cy="1554480"/>
          </a:xfrm>
          <a:prstGeom prst="roundRect">
            <a:avLst/>
          </a:prstGeom>
          <a:solidFill>
            <a:srgbClr val="E4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7136" y="192024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Whisper encoder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7136" y="2423160"/>
            <a:ext cx="1554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Segoe UI"/>
              </a:rPr>
              <a:t>AI Hub QNN ONNX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Segoe UI"/>
              </a:rPr>
              <a:t>Hexagon NPU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181344" y="2487168"/>
            <a:ext cx="164592" cy="237744"/>
          </a:xfrm>
          <a:prstGeom prst="rightArrow">
            <a:avLst/>
          </a:prstGeom>
          <a:solidFill>
            <a:srgbClr val="5A6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64224" y="1828800"/>
            <a:ext cx="1737360" cy="1554480"/>
          </a:xfrm>
          <a:prstGeom prst="roundRect">
            <a:avLst/>
          </a:prstGeom>
          <a:solidFill>
            <a:srgbClr val="E4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55664" y="192024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Whisper decoder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2423160"/>
            <a:ext cx="1554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Segoe UI"/>
              </a:rPr>
              <a:t>KV-cache, 200 slots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Segoe UI"/>
              </a:rPr>
              <a:t>Hexagon NPU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119872" y="2487168"/>
            <a:ext cx="164592" cy="237744"/>
          </a:xfrm>
          <a:prstGeom prst="rightArrow">
            <a:avLst/>
          </a:prstGeom>
          <a:solidFill>
            <a:srgbClr val="5A6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302752" y="1828800"/>
            <a:ext cx="1737360" cy="1554480"/>
          </a:xfrm>
          <a:prstGeom prst="round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94192" y="192024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4171F"/>
                </a:solidFill>
                <a:latin typeface="Segoe UI"/>
              </a:rPr>
              <a:t>Phi-3.5-mini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4192" y="2423160"/>
            <a:ext cx="1554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A606B"/>
                </a:solidFill>
                <a:latin typeface="Segoe UI"/>
              </a:rPr>
              <a:t>INT4, onnxruntime-genai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10058400" y="2487168"/>
            <a:ext cx="164592" cy="237744"/>
          </a:xfrm>
          <a:prstGeom prst="rightArrow">
            <a:avLst/>
          </a:prstGeom>
          <a:solidFill>
            <a:srgbClr val="5A6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241280" y="1828800"/>
            <a:ext cx="1737360" cy="1554480"/>
          </a:xfrm>
          <a:prstGeom prst="round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32720" y="192024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4171F"/>
                </a:solidFill>
                <a:latin typeface="Segoe UI"/>
              </a:rPr>
              <a:t>Study outputs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0" y="2423160"/>
            <a:ext cx="1554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A606B"/>
                </a:solidFill>
                <a:latin typeface="Segoe UI"/>
              </a:rPr>
              <a:t>summary, notes,</a:t>
            </a:r>
          </a:p>
          <a:p>
            <a:pPr algn="ctr"/>
            <a:r>
              <a:rPr sz="1200" b="0">
                <a:solidFill>
                  <a:srgbClr val="5A606B"/>
                </a:solidFill>
                <a:latin typeface="Segoe UI"/>
              </a:rPr>
              <a:t>quiz, Q&amp;A, export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840480"/>
            <a:ext cx="11155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900">
                <a:solidFill>
                  <a:srgbClr val="E41E2B"/>
                </a:solidFill>
                <a:latin typeface="Segoe UI"/>
              </a:rPr>
              <a:t>■  </a:t>
            </a:r>
            <a:r>
              <a:rPr sz="1500">
                <a:solidFill>
                  <a:srgbClr val="14171F"/>
                </a:solidFill>
                <a:latin typeface="Segoe UI"/>
              </a:rPr>
              <a:t>ONNX Runtime QNN Execution Provider (plugin EP, HTP backend, burst perf mode) runs AI Hub precompiled context binaries, so there is no on-device compile.</a:t>
            </a:r>
          </a:p>
          <a:p>
            <a:pPr>
              <a:spcAft>
                <a:spcPts val="1000"/>
              </a:spcAft>
            </a:pPr>
            <a:r>
              <a:rPr sz="900">
                <a:solidFill>
                  <a:srgbClr val="E41E2B"/>
                </a:solidFill>
                <a:latin typeface="Segoe UI"/>
              </a:rPr>
              <a:t>■  </a:t>
            </a:r>
            <a:r>
              <a:rPr sz="1500">
                <a:solidFill>
                  <a:srgbClr val="14171F"/>
                </a:solidFill>
                <a:latin typeface="Segoe UI"/>
              </a:rPr>
              <a:t>Encoder emits cross-attention KV caches directly; the fixed-shape decoder loop feeds self-attention caches back, so every step stays on the NPU.</a:t>
            </a:r>
          </a:p>
          <a:p>
            <a:pPr>
              <a:spcAft>
                <a:spcPts val="1000"/>
              </a:spcAft>
            </a:pPr>
            <a:r>
              <a:rPr sz="900">
                <a:solidFill>
                  <a:srgbClr val="E41E2B"/>
                </a:solidFill>
                <a:latin typeface="Segoe UI"/>
              </a:rPr>
              <a:t>■  </a:t>
            </a:r>
            <a:r>
              <a:rPr sz="1500">
                <a:solidFill>
                  <a:srgbClr val="14171F"/>
                </a:solidFill>
                <a:latin typeface="Segoe UI"/>
              </a:rPr>
              <a:t>Robust by design: NPU to CPU to extractive fallback chain, repetition guard, silence gating, head+tail context fitting for long lectures.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4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41E2B"/>
                </a:solidFill>
                <a:latin typeface="Segoe UI"/>
              </a:rPr>
              <a:t>AI MODELS &amp; OPTIMISATION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4171F"/>
                </a:solidFill>
                <a:latin typeface="Segoe UI"/>
              </a:rPr>
              <a:t>Why the Snapdragon NPU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00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606B"/>
                </a:solidFill>
                <a:latin typeface="Segoe UI"/>
              </a:rPr>
              <a:t>NotesNPU  |  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108960"/>
                <a:gridCol w="2377440"/>
                <a:gridCol w="3383280"/>
              </a:tblGrid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Task</a:t>
                      </a:r>
                    </a:p>
                  </a:txBody>
                  <a:tcPr>
                    <a:solidFill>
                      <a:srgbClr val="E41E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Model</a:t>
                      </a:r>
                    </a:p>
                  </a:txBody>
                  <a:tcPr>
                    <a:solidFill>
                      <a:srgbClr val="E41E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Source</a:t>
                      </a:r>
                    </a:p>
                  </a:txBody>
                  <a:tcPr>
                    <a:solidFill>
                      <a:srgbClr val="E41E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Runtime / hardware</a:t>
                      </a:r>
                    </a:p>
                  </a:txBody>
                  <a:tcPr>
                    <a:solidFill>
                      <a:srgbClr val="E41E2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71F"/>
                          </a:solidFill>
                          <a:latin typeface="Segoe UI"/>
                        </a:rPr>
                        <a:t>Speech-to-text (NPU)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71F"/>
                          </a:solidFill>
                          <a:latin typeface="Segoe UI"/>
                        </a:rPr>
                        <a:t>Whisper-Base, precompiled QNN ONNX FP16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71F"/>
                          </a:solidFill>
                          <a:latin typeface="Segoe UI"/>
                        </a:rPr>
                        <a:t>Qualcomm AI Hub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71F"/>
                          </a:solidFill>
                          <a:latin typeface="Segoe UI"/>
                        </a:rPr>
                        <a:t>ONNX Runtime + QNN EP (HTP) on the Hexagon NPU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71F"/>
                          </a:solidFill>
                          <a:latin typeface="Segoe UI"/>
                        </a:rPr>
                        <a:t>Speech-to-text (fallback)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71F"/>
                          </a:solidFill>
                          <a:latin typeface="Segoe UI"/>
                        </a:rPr>
                        <a:t>Whisper-Base ONNX (INT8 decoder)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71F"/>
                          </a:solidFill>
                          <a:latin typeface="Segoe UI"/>
                        </a:rPr>
                        <a:t>Hugging Face onnx-community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71F"/>
                          </a:solidFill>
                          <a:latin typeface="Segoe UI"/>
                        </a:rPr>
                        <a:t>ONNX Runtime CPU 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71F"/>
                          </a:solidFill>
                          <a:latin typeface="Segoe UI"/>
                        </a:rPr>
                        <a:t>Study assistant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71F"/>
                          </a:solidFill>
                          <a:latin typeface="Segoe UI"/>
                        </a:rPr>
                        <a:t>Phi-3.5-mini-instruct INT4 AWQ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71F"/>
                          </a:solidFill>
                          <a:latin typeface="Segoe UI"/>
                        </a:rPr>
                        <a:t>Microsoft (Hugging Face)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71F"/>
                          </a:solidFill>
                          <a:latin typeface="Segoe UI"/>
                        </a:rPr>
                        <a:t>onnxruntime-genai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3429000"/>
            <a:ext cx="11155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E41E2B"/>
                </a:solidFill>
                <a:latin typeface="Segoe UI"/>
              </a:rPr>
              <a:t>■  </a:t>
            </a:r>
            <a:r>
              <a:rPr sz="1500">
                <a:solidFill>
                  <a:srgbClr val="14171F"/>
                </a:solidFill>
                <a:latin typeface="Segoe UI"/>
              </a:rPr>
              <a:t>Whisper encoder = dense transformer over 1500 frames, a good fit for the Hexagon HTP's FP16 tensor engines (46 ms per 30 s of audio on X Elite, from AI Hub).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E41E2B"/>
                </a:solidFill>
                <a:latin typeface="Segoe UI"/>
              </a:rPr>
              <a:t>■  </a:t>
            </a:r>
            <a:r>
              <a:rPr sz="1500">
                <a:solidFill>
                  <a:srgbClr val="14171F"/>
                </a:solidFill>
                <a:latin typeface="Segoe UI"/>
              </a:rPr>
              <a:t>AI Hub precompiled context binaries: no on-device compile, instant start-up.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E41E2B"/>
                </a:solidFill>
                <a:latin typeface="Segoe UI"/>
              </a:rPr>
              <a:t>■  </a:t>
            </a:r>
            <a:r>
              <a:rPr sz="1500">
                <a:solidFill>
                  <a:srgbClr val="14171F"/>
                </a:solidFill>
                <a:latin typeface="Segoe UI"/>
              </a:rPr>
              <a:t>Fixed-shape KV-cache decoder (200 slots) keeps every step on the NPU (3.8 ms/token).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E41E2B"/>
                </a:solidFill>
                <a:latin typeface="Segoe UI"/>
              </a:rPr>
              <a:t>■  </a:t>
            </a:r>
            <a:r>
              <a:rPr sz="1500">
                <a:solidFill>
                  <a:srgbClr val="14171F"/>
                </a:solidFill>
                <a:latin typeface="Segoe UI"/>
              </a:rPr>
              <a:t>NPU does the speech, so the Oryon CPU stays free for the LLM and UI and live mode never stutters.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E41E2B"/>
                </a:solidFill>
                <a:latin typeface="Segoe UI"/>
              </a:rPr>
              <a:t>■  </a:t>
            </a:r>
            <a:r>
              <a:rPr sz="1500">
                <a:solidFill>
                  <a:srgbClr val="14171F"/>
                </a:solidFill>
                <a:latin typeface="Segoe UI"/>
              </a:rPr>
              <a:t>Low-power NPU inference means a full day of lectures on battery, quiet and cool.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4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41E2B"/>
                </a:solidFill>
                <a:latin typeface="Segoe UI"/>
              </a:rPr>
              <a:t>BENCHMARKS (WHISPER-BASE, 85 S LECTURE)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4171F"/>
                </a:solidFill>
                <a:latin typeface="Segoe UI"/>
              </a:rPr>
              <a:t>Performance: NPU vs CPU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00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606B"/>
                </a:solidFill>
                <a:latin typeface="Segoe UI"/>
              </a:rPr>
              <a:t>NotesNPU  |  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55448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2194560"/>
                <a:gridCol w="2011680"/>
                <a:gridCol w="2103120"/>
              </a:tblGrid>
              <a:tr h="54864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Device / backend</a:t>
                      </a:r>
                    </a:p>
                  </a:txBody>
                  <a:tcPr>
                    <a:solidFill>
                      <a:srgbClr val="E41E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Speed</a:t>
                      </a:r>
                    </a:p>
                  </a:txBody>
                  <a:tcPr>
                    <a:solidFill>
                      <a:srgbClr val="E41E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Encoder per 30 s</a:t>
                      </a:r>
                    </a:p>
                  </a:txBody>
                  <a:tcPr>
                    <a:solidFill>
                      <a:srgbClr val="E41E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Decoder per token</a:t>
                      </a:r>
                    </a:p>
                  </a:txBody>
                  <a:tcPr>
                    <a:solidFill>
                      <a:srgbClr val="E41E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71F"/>
                          </a:solidFill>
                          <a:latin typeface="Segoe UI"/>
                        </a:rPr>
                        <a:t>Intel i5-7200U laptop (dev machine), CPU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71F"/>
                          </a:solidFill>
                          <a:latin typeface="Segoe UI"/>
                        </a:rPr>
                        <a:t>5.7x real time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71F"/>
                          </a:solidFill>
                          <a:latin typeface="Segoe UI"/>
                        </a:rPr>
                        <a:t>1312 ms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71F"/>
                          </a:solidFill>
                          <a:latin typeface="Segoe UI"/>
                        </a:rPr>
                        <a:t>44.8 ms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71F"/>
                          </a:solidFill>
                          <a:latin typeface="Segoe UI"/>
                        </a:rPr>
                        <a:t>Snapdragon X Elite NPU (AI Hub reference)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71F"/>
                          </a:solidFill>
                          <a:latin typeface="Segoe UI"/>
                        </a:rPr>
                        <a:t>~100x real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71F"/>
                          </a:solidFill>
                          <a:latin typeface="Segoe UI"/>
                        </a:rPr>
                        <a:t>46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71F"/>
                          </a:solidFill>
                          <a:latin typeface="Segoe UI"/>
                        </a:rPr>
                        <a:t>3.8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71F"/>
                          </a:solidFill>
                          <a:latin typeface="Segoe UI"/>
                        </a:rPr>
                        <a:t>Snapdragon HP PC NPU (my run)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71F"/>
                          </a:solidFill>
                          <a:latin typeface="Segoe UI"/>
                        </a:rPr>
                        <a:t>run core.bench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71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71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4206240"/>
            <a:ext cx="11064240" cy="17373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343400"/>
            <a:ext cx="10607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4171F"/>
                </a:solidFill>
                <a:latin typeface="Segoe UI"/>
              </a:rPr>
              <a:t>AI Hub reference: ~28x faster encoder and ~12x faster decoding on the NPU than my laptop-CPU baseline</a:t>
            </a:r>
          </a:p>
          <a:p>
            <a:pPr algn="l"/>
            <a:r>
              <a:rPr sz="1700" b="0">
                <a:solidFill>
                  <a:srgbClr val="14171F"/>
                </a:solidFill>
                <a:latin typeface="Segoe UI"/>
              </a:rPr>
              <a:t>A 1-hour lecture transcribes in well under a minute, on battery, with the CPU left free.</a:t>
            </a:r>
          </a:p>
          <a:p>
            <a:pPr algn="l"/>
            <a:r>
              <a:rPr sz="1700" b="0">
                <a:solidFill>
                  <a:srgbClr val="14171F"/>
                </a:solidFill>
                <a:latin typeface="Segoe UI"/>
              </a:rPr>
              <a:t>Reproduce: python -m core.bench --llm   (built-in benchmark tab in the app)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4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41E2B"/>
                </a:solidFill>
                <a:latin typeface="Segoe UI"/>
              </a:rPr>
              <a:t>USE CASE &amp;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4171F"/>
                </a:solidFill>
                <a:latin typeface="Segoe UI"/>
              </a:rPr>
              <a:t>Who it helps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00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606B"/>
                </a:solidFill>
                <a:latin typeface="Segoe UI"/>
              </a:rPr>
              <a:t>NotesNPU  |  8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2926080" cy="822960"/>
          </a:xfrm>
          <a:prstGeom prst="rect">
            <a:avLst/>
          </a:prstGeom>
          <a:solidFill>
            <a:srgbClr val="E4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Students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1508760"/>
            <a:ext cx="8138160" cy="822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1691640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4171F"/>
                </a:solidFill>
                <a:latin typeface="Segoe UI"/>
              </a:rPr>
              <a:t>Focus on understanding, not scribbling; revise with auto flashcards and quizzes.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468880"/>
            <a:ext cx="2926080" cy="822960"/>
          </a:xfrm>
          <a:prstGeom prst="rect">
            <a:avLst/>
          </a:prstGeom>
          <a:solidFill>
            <a:srgbClr val="E4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67004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Accessibility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0" y="2468880"/>
            <a:ext cx="8138160" cy="822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0" y="2651760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4171F"/>
                </a:solidFill>
                <a:latin typeface="Segoe UI"/>
              </a:rPr>
              <a:t>Live captions for deaf and hard-of-hearing learners; notes for students with dyslexia or ADHD.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429000"/>
            <a:ext cx="2926080" cy="822960"/>
          </a:xfrm>
          <a:prstGeom prst="rect">
            <a:avLst/>
          </a:prstGeom>
          <a:solidFill>
            <a:srgbClr val="E4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63016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Regional language learners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4720" y="3429000"/>
            <a:ext cx="8138160" cy="822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3611880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4171F"/>
                </a:solidFill>
                <a:latin typeface="Segoe UI"/>
              </a:rPr>
              <a:t>Hindi / regional lectures turned into English notes, bridging the medium-of-instruction gap.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389120"/>
            <a:ext cx="2926080" cy="822960"/>
          </a:xfrm>
          <a:prstGeom prst="rect">
            <a:avLst/>
          </a:prstGeom>
          <a:solidFill>
            <a:srgbClr val="E4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59028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Professionals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74720" y="4389120"/>
            <a:ext cx="8138160" cy="822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4572000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4171F"/>
                </a:solidFill>
                <a:latin typeface="Segoe UI"/>
              </a:rPr>
              <a:t>Confidential meetings summarised with action items, and nothing is uploaded.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349240"/>
            <a:ext cx="2926080" cy="822960"/>
          </a:xfrm>
          <a:prstGeom prst="rect">
            <a:avLst/>
          </a:prstGeom>
          <a:solidFill>
            <a:srgbClr val="E4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55040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Teachers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74720" y="5349240"/>
            <a:ext cx="8138160" cy="822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5532120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4171F"/>
                </a:solidFill>
                <a:latin typeface="Segoe UI"/>
              </a:rPr>
              <a:t>Publish lecture notes and question banks from their own recordings.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4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41E2B"/>
                </a:solidFill>
                <a:latin typeface="Segoe UI"/>
              </a:rPr>
              <a:t>READY TO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4171F"/>
                </a:solidFill>
                <a:latin typeface="Segoe UI"/>
              </a:rPr>
              <a:t>Deployment &amp; accessibility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00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606B"/>
                </a:solidFill>
                <a:latin typeface="Segoe UI"/>
              </a:rPr>
              <a:t>NotesNPU  |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100">
                <a:solidFill>
                  <a:srgbClr val="E41E2B"/>
                </a:solidFill>
                <a:latin typeface="Segoe UI"/>
              </a:rPr>
              <a:t>■  </a:t>
            </a:r>
            <a:r>
              <a:rPr sz="1700">
                <a:solidFill>
                  <a:srgbClr val="14171F"/>
                </a:solidFill>
                <a:latin typeface="Segoe UI"/>
              </a:rPr>
              <a:t>One-click setup.bat / run.bat: detects Snapdragon, installs native ARM64 deps, downloads AI Hub models.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E41E2B"/>
                </a:solidFill>
                <a:latin typeface="Segoe UI"/>
              </a:rPr>
              <a:t>■  </a:t>
            </a:r>
            <a:r>
              <a:rPr sz="1700">
                <a:solidFill>
                  <a:srgbClr val="14171F"/>
                </a:solidFill>
                <a:latin typeface="Segoe UI"/>
              </a:rPr>
              <a:t>Runs as a local web app on 127.0.0.1, with offline mode enforced (HF_HUB_OFFLINE, no analytics).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E41E2B"/>
                </a:solidFill>
                <a:latin typeface="Segoe UI"/>
              </a:rPr>
              <a:t>■  </a:t>
            </a:r>
            <a:r>
              <a:rPr sz="1700">
                <a:solidFill>
                  <a:srgbClr val="14171F"/>
                </a:solidFill>
                <a:latin typeface="Segoe UI"/>
              </a:rPr>
              <a:t>Automatic fallback: NPU to CPU to extractive engine, so it works on every Windows PC.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E41E2B"/>
                </a:solidFill>
                <a:latin typeface="Segoe UI"/>
              </a:rPr>
              <a:t>■  </a:t>
            </a:r>
            <a:r>
              <a:rPr sz="1700">
                <a:solidFill>
                  <a:srgbClr val="14171F"/>
                </a:solidFill>
                <a:latin typeface="Segoe UI"/>
              </a:rPr>
              <a:t>Light install (-NoLLM, ~300 MB) for low-storage laptops.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E41E2B"/>
                </a:solidFill>
                <a:latin typeface="Segoe UI"/>
              </a:rPr>
              <a:t>■  </a:t>
            </a:r>
            <a:r>
              <a:rPr sz="1700">
                <a:solidFill>
                  <a:srgbClr val="14171F"/>
                </a:solidFill>
                <a:latin typeface="Segoe UI"/>
              </a:rPr>
              <a:t>Open source (MIT) on GitHub, with CLI tools for transcription and benchmarking.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79" y="1554480"/>
            <a:ext cx="4114800" cy="3931920"/>
          </a:xfrm>
          <a:prstGeom prst="rect">
            <a:avLst/>
          </a:prstGeom>
          <a:solidFill>
            <a:srgbClr val="14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79" y="1737360"/>
            <a:ext cx="3749039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6E6EA"/>
                </a:solidFill>
                <a:latin typeface="Segoe UI"/>
              </a:rPr>
              <a:t>&gt; git clone &lt;repo&gt;</a:t>
            </a:r>
          </a:p>
          <a:p>
            <a:pPr algn="l"/>
            <a:r>
              <a:rPr sz="1600" b="0">
                <a:solidFill>
                  <a:srgbClr val="E6E6EA"/>
                </a:solidFill>
                <a:latin typeface="Segoe UI"/>
              </a:rPr>
              <a:t>&gt; cd notesnpu</a:t>
            </a:r>
          </a:p>
          <a:p>
            <a:pPr algn="l"/>
            <a:r>
              <a:rPr sz="1600" b="0">
                <a:solidFill>
                  <a:srgbClr val="E6E6EA"/>
                </a:solidFill>
                <a:latin typeface="Segoe UI"/>
              </a:rPr>
              <a:t>&gt; setup.bat</a:t>
            </a:r>
          </a:p>
          <a:p>
            <a:pPr algn="l"/>
            <a:r>
              <a:rPr sz="1600" b="0">
                <a:solidFill>
                  <a:srgbClr val="E6E6EA"/>
                </a:solidFill>
                <a:latin typeface="Segoe UI"/>
              </a:rPr>
              <a:t>&gt; run.bat</a:t>
            </a:r>
          </a:p>
          <a:p>
            <a:pPr algn="l"/>
            <a:r>
              <a:rPr sz="1600" b="0">
                <a:solidFill>
                  <a:srgbClr val="E6E6EA"/>
                </a:solidFill>
                <a:latin typeface="Segoe UI"/>
              </a:rPr>
              <a:t/>
            </a:r>
          </a:p>
          <a:p>
            <a:pPr algn="l"/>
            <a:r>
              <a:rPr sz="1600" b="0">
                <a:solidFill>
                  <a:srgbClr val="E6E6EA"/>
                </a:solidFill>
                <a:latin typeface="Segoe UI"/>
              </a:rPr>
              <a:t>Opens http://127.0.0.1:7860</a:t>
            </a:r>
          </a:p>
          <a:p>
            <a:pPr algn="l"/>
            <a:r>
              <a:rPr sz="1600" b="0">
                <a:solidFill>
                  <a:srgbClr val="E6E6EA"/>
                </a:solidFill>
                <a:latin typeface="Segoe UI"/>
              </a:rPr>
              <a:t>Works offline after setup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4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41E2B"/>
                </a:solidFill>
                <a:latin typeface="Segoe UI"/>
              </a:rPr>
              <a:t>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4171F"/>
                </a:solidFill>
                <a:latin typeface="Segoe UI"/>
              </a:rPr>
              <a:t>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00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606B"/>
                </a:solidFill>
                <a:latin typeface="Segoe UI"/>
              </a:rPr>
              <a:t>NotesNPU  |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>
                <a:solidFill>
                  <a:srgbClr val="E41E2B"/>
                </a:solidFill>
                <a:latin typeface="Segoe UI"/>
              </a:rPr>
              <a:t>■  </a:t>
            </a:r>
            <a:r>
              <a:rPr sz="2000">
                <a:solidFill>
                  <a:srgbClr val="14171F"/>
                </a:solidFill>
                <a:latin typeface="Segoe UI"/>
              </a:rPr>
              <a:t>LLM on the NPU: AI Hub Llama-3.2-3B / Phi-3.5 QNN binaries via Genie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E41E2B"/>
                </a:solidFill>
                <a:latin typeface="Segoe UI"/>
              </a:rPr>
              <a:t>■  </a:t>
            </a:r>
            <a:r>
              <a:rPr sz="2000">
                <a:solidFill>
                  <a:srgbClr val="14171F"/>
                </a:solidFill>
                <a:latin typeface="Segoe UI"/>
              </a:rPr>
              <a:t>Speaker diarisation for meetings (who said what)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E41E2B"/>
                </a:solidFill>
                <a:latin typeface="Segoe UI"/>
              </a:rPr>
              <a:t>■  </a:t>
            </a:r>
            <a:r>
              <a:rPr sz="2000">
                <a:solidFill>
                  <a:srgbClr val="14171F"/>
                </a:solidFill>
                <a:latin typeface="Segoe UI"/>
              </a:rPr>
              <a:t>Slide / whiteboard capture with on-device OCR, linked to the timeline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E41E2B"/>
                </a:solidFill>
                <a:latin typeface="Segoe UI"/>
              </a:rPr>
              <a:t>■  </a:t>
            </a:r>
            <a:r>
              <a:rPr sz="2000">
                <a:solidFill>
                  <a:srgbClr val="14171F"/>
                </a:solidFill>
                <a:latin typeface="Segoe UI"/>
              </a:rPr>
              <a:t>Semantic search across a semester of lectures (on-device embeddings)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E41E2B"/>
                </a:solidFill>
                <a:latin typeface="Segoe UI"/>
              </a:rPr>
              <a:t>■  </a:t>
            </a:r>
            <a:r>
              <a:rPr sz="2000">
                <a:solidFill>
                  <a:srgbClr val="14171F"/>
                </a:solidFill>
                <a:latin typeface="Segoe UI"/>
              </a:rPr>
              <a:t>MSIX installer on the Microsoft Store; HP AI Companion integration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06240"/>
            <a:ext cx="12191695" cy="73152"/>
          </a:xfrm>
          <a:prstGeom prst="rect">
            <a:avLst/>
          </a:prstGeom>
          <a:solidFill>
            <a:srgbClr val="E4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Segoe U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DDDDE3"/>
                </a:solidFill>
                <a:latin typeface="Segoe UI"/>
              </a:rPr>
              <a:t>NotesNPU: learn more, write less, and keep it on your PC.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720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BBBBC4"/>
                </a:solidFill>
                <a:latin typeface="Segoe UI"/>
              </a:rPr>
              <a:t>https://github.com/&lt;your-username&gt;/notesnpu</a:t>
            </a:r>
          </a:p>
          <a:p>
            <a:pPr algn="l"/>
            <a:r>
              <a:rPr sz="1800" b="0">
                <a:solidFill>
                  <a:srgbClr val="BBBBC4"/>
                </a:solidFill>
                <a:latin typeface="Segoe UI"/>
              </a:rPr>
              <a:t>Saira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